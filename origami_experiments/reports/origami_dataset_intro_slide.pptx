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wide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theme" Target="theme/theme1.xml"/>
</Relationships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navy wedge"/>
          <p:cNvSpPr/>
          <p:nvPr/>
        </p:nvSpPr>
        <p:spPr>
          <a:xfrm>
            <a:off x="0" y="0"/>
            <a:ext cx="1051560" cy="566928"/>
          </a:xfrm>
          <a:prstGeom prst="rect">
            <a:avLst/>
          </a:prstGeom>
          <a:solidFill>
            <a:srgbClr val="0B3D78"/>
          </a:solidFill>
          <a:ln>
            <a:noFill/>
          </a:ln>
        </p:spPr>
      </p:sp>
      <p:sp>
        <p:nvSpPr>
          <p:cNvPr id="3" name="top white band"/>
          <p:cNvSpPr/>
          <p:nvPr/>
        </p:nvSpPr>
        <p:spPr>
          <a:xfrm>
            <a:off x="1051560" y="0"/>
            <a:ext cx="7726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" name="top navy right"/>
          <p:cNvSpPr/>
          <p:nvPr/>
        </p:nvSpPr>
        <p:spPr>
          <a:xfrm>
            <a:off x="8778240" y="0"/>
            <a:ext cx="3410712" cy="566928"/>
          </a:xfrm>
          <a:prstGeom prst="rect">
            <a:avLst/>
          </a:prstGeom>
          <a:solidFill>
            <a:srgbClr val="0B3D78"/>
          </a:solidFill>
          <a:ln>
            <a:noFill/>
          </a:ln>
        </p:spPr>
      </p:sp>
      <p:sp>
        <p:nvSpPr>
          <p:cNvPr id="5" name="team"/>
          <p:cNvSpPr/>
          <p:nvPr/>
        </p:nvSpPr>
        <p:spPr>
          <a:xfrm>
            <a:off x="1115568" y="73152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2100" b="1">
                <a:solidFill>
                  <a:srgbClr val="0B3D78"/>
                </a:solidFill>
                <a:latin typeface="Microsoft YaHei"/>
                <a:ea typeface="Microsoft YaHei"/>
              </a:rPr>
              <a:t>仿生结构与机械智能研究团队</a:t>
            </a:r>
          </a:p>
        </p:txBody>
      </p:sp>
      <p:sp>
        <p:nvSpPr>
          <p:cNvPr id="6" name="institute"/>
          <p:cNvSpPr/>
          <p:nvPr/>
        </p:nvSpPr>
        <p:spPr>
          <a:xfrm>
            <a:off x="9144000" y="73152"/>
            <a:ext cx="25146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先进仿生与智能机械创新研究院</a:t>
            </a:r>
          </a:p>
          <a:p>
            <a:pPr algn="r"/>
            <a:r>
              <a:rPr lang="zh-CN" sz="800" b="1">
                <a:solidFill>
                  <a:srgbClr val="FFFFFF"/>
                </a:solidFill>
                <a:latin typeface="Microsoft YaHei"/>
                <a:ea typeface="Microsoft YaHei"/>
              </a:rPr>
              <a:t>智能机器人与仿生工程研究中心</a:t>
            </a:r>
          </a:p>
        </p:txBody>
      </p:sp>
      <p:sp>
        <p:nvSpPr>
          <p:cNvPr id="7" name="logo circle"/>
          <p:cNvSpPr/>
          <p:nvPr/>
        </p:nvSpPr>
        <p:spPr>
          <a:xfrm>
            <a:off x="11475720" y="73152"/>
            <a:ext cx="384048" cy="384048"/>
          </a:xfrm>
          <a:prstGeom prst="roundRect">
            <a:avLst/>
          </a:prstGeom>
          <a:solidFill>
            <a:srgbClr val="0B3D78"/>
          </a:solidFill>
          <a:ln w="19050">
            <a:solidFill>
              <a:srgbClr val="FFFFFF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600" b="1">
                <a:solidFill>
                  <a:srgbClr val="FFFFFF"/>
                </a:solidFill>
                <a:latin typeface="Microsoft YaHei"/>
                <a:ea typeface="Microsoft YaHei"/>
              </a:rPr>
              <a:t>研</a:t>
            </a:r>
          </a:p>
        </p:txBody>
      </p:sp>
      <p:sp>
        <p:nvSpPr>
          <p:cNvPr id="8" name="red square"/>
          <p:cNvSpPr/>
          <p:nvPr/>
        </p:nvSpPr>
        <p:spPr>
          <a:xfrm>
            <a:off x="164592" y="749808"/>
            <a:ext cx="201168" cy="201168"/>
          </a:xfrm>
          <a:prstGeom prst="rect">
            <a:avLst/>
          </a:prstGeom>
          <a:solidFill>
            <a:srgbClr val="FFFFFF"/>
          </a:solidFill>
          <a:ln w="19050">
            <a:solidFill>
              <a:srgbClr val="D71920"/>
            </a:solidFill>
          </a:ln>
        </p:spPr>
      </p:sp>
      <p:sp>
        <p:nvSpPr>
          <p:cNvPr id="9" name="title"/>
          <p:cNvSpPr/>
          <p:nvPr/>
        </p:nvSpPr>
        <p:spPr>
          <a:xfrm>
            <a:off x="438912" y="658368"/>
            <a:ext cx="109728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2300" b="1">
                <a:solidFill>
                  <a:srgbClr val="111827"/>
                </a:solidFill>
                <a:latin typeface="Microsoft YaHei"/>
                <a:ea typeface="Microsoft YaHei"/>
              </a:rPr>
              <a:t>训练数据集介绍——Origami Sheet MaterialProperty 刚度数据集</a:t>
            </a:r>
          </a:p>
        </p:txBody>
      </p:sp>
      <p:sp>
        <p:nvSpPr>
          <p:cNvPr id="10" name="left panel"/>
          <p:cNvSpPr/>
          <p:nvPr/>
        </p:nvSpPr>
        <p:spPr>
          <a:xfrm>
            <a:off x="320040" y="1170432"/>
            <a:ext cx="544068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5BAA"/>
            </a:solidFill>
          </a:ln>
        </p:spPr>
      </p:sp>
      <p:sp>
        <p:nvSpPr>
          <p:cNvPr id="11" name="left panel title"/>
          <p:cNvSpPr/>
          <p:nvPr/>
        </p:nvSpPr>
        <p:spPr>
          <a:xfrm>
            <a:off x="438912" y="1271016"/>
            <a:ext cx="5202936" cy="310896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txBody>
          <a:bodyPr lIns="65000" tIns="65000" rIns="65000" bIns="65000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数据来源：Miura 与 TMP 两类折纸结构</a:t>
            </a:r>
          </a:p>
        </p:txBody>
      </p:sp>
      <p:sp>
        <p:nvSpPr>
          <p:cNvPr id="12" name="left desc"/>
          <p:cNvSpPr/>
          <p:nvPr/>
        </p:nvSpPr>
        <p:spPr>
          <a:xfrm>
            <a:off x="502920" y="1627632"/>
            <a:ext cx="49834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900" b="1">
                <a:solidFill>
                  <a:srgbClr val="111827"/>
                </a:solidFill>
                <a:latin typeface="Microsoft YaHei"/>
                <a:ea typeface="Microsoft YaHei"/>
              </a:rPr>
              <a:t>原始仿真数据来自 GenerateOrigamiDataSet / Data_Origami_Sheet_MaterialProperty</a:t>
            </a:r>
          </a:p>
        </p:txBody>
      </p:sp>
      <p:sp>
        <p:nvSpPr>
          <p:cNvPr id="13" name="source card 0"/>
          <p:cNvSpPr/>
          <p:nvPr/>
        </p:nvSpPr>
        <p:spPr>
          <a:xfrm>
            <a:off x="548640" y="1993392"/>
            <a:ext cx="1051560" cy="74980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14" name="source card big 0"/>
          <p:cNvSpPr/>
          <p:nvPr/>
        </p:nvSpPr>
        <p:spPr>
          <a:xfrm>
            <a:off x="621792" y="2084832"/>
            <a:ext cx="90525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Miura</a:t>
            </a:r>
          </a:p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2000 条</a:t>
            </a:r>
          </a:p>
        </p:txBody>
      </p:sp>
      <p:sp>
        <p:nvSpPr>
          <p:cNvPr id="15" name="source card small 0"/>
          <p:cNvSpPr/>
          <p:nvPr/>
        </p:nvSpPr>
        <p:spPr>
          <a:xfrm>
            <a:off x="603504" y="2487168"/>
            <a:ext cx="9418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5B6B7A"/>
                </a:solidFill>
                <a:latin typeface="Microsoft YaHei"/>
                <a:ea typeface="Microsoft YaHei"/>
              </a:rPr>
              <a:t>折纸模式 1</a:t>
            </a:r>
          </a:p>
        </p:txBody>
      </p:sp>
      <p:sp>
        <p:nvSpPr>
          <p:cNvPr id="16" name="source card 1"/>
          <p:cNvSpPr/>
          <p:nvPr/>
        </p:nvSpPr>
        <p:spPr>
          <a:xfrm>
            <a:off x="1792224" y="1993392"/>
            <a:ext cx="1051560" cy="74980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17" name="source card big 1"/>
          <p:cNvSpPr/>
          <p:nvPr/>
        </p:nvSpPr>
        <p:spPr>
          <a:xfrm>
            <a:off x="1865376" y="2084832"/>
            <a:ext cx="90525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TMP</a:t>
            </a:r>
          </a:p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2000 条</a:t>
            </a:r>
          </a:p>
        </p:txBody>
      </p:sp>
      <p:sp>
        <p:nvSpPr>
          <p:cNvPr id="18" name="source card small 1"/>
          <p:cNvSpPr/>
          <p:nvPr/>
        </p:nvSpPr>
        <p:spPr>
          <a:xfrm>
            <a:off x="1847088" y="2487168"/>
            <a:ext cx="9418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5B6B7A"/>
                </a:solidFill>
                <a:latin typeface="Microsoft YaHei"/>
                <a:ea typeface="Microsoft YaHei"/>
              </a:rPr>
              <a:t>折纸模式 2</a:t>
            </a:r>
          </a:p>
        </p:txBody>
      </p:sp>
      <p:sp>
        <p:nvSpPr>
          <p:cNvPr id="19" name="source card 2"/>
          <p:cNvSpPr/>
          <p:nvPr/>
        </p:nvSpPr>
        <p:spPr>
          <a:xfrm>
            <a:off x="3035808" y="1993392"/>
            <a:ext cx="1051560" cy="74980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20" name="source card big 2"/>
          <p:cNvSpPr/>
          <p:nvPr/>
        </p:nvSpPr>
        <p:spPr>
          <a:xfrm>
            <a:off x="3108960" y="2084832"/>
            <a:ext cx="90525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共 4000</a:t>
            </a:r>
          </a:p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条样本</a:t>
            </a:r>
          </a:p>
        </p:txBody>
      </p:sp>
      <p:sp>
        <p:nvSpPr>
          <p:cNvPr id="21" name="source card small 2"/>
          <p:cNvSpPr/>
          <p:nvPr/>
        </p:nvSpPr>
        <p:spPr>
          <a:xfrm>
            <a:off x="3090672" y="2487168"/>
            <a:ext cx="9418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5B6B7A"/>
                </a:solidFill>
                <a:latin typeface="Microsoft YaHei"/>
                <a:ea typeface="Microsoft YaHei"/>
              </a:rPr>
              <a:t>合并数据集</a:t>
            </a:r>
          </a:p>
        </p:txBody>
      </p:sp>
      <p:sp>
        <p:nvSpPr>
          <p:cNvPr id="22" name="source card 3"/>
          <p:cNvSpPr/>
          <p:nvPr/>
        </p:nvSpPr>
        <p:spPr>
          <a:xfrm>
            <a:off x="4279392" y="1993392"/>
            <a:ext cx="1051560" cy="749808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23" name="source card big 3"/>
          <p:cNvSpPr/>
          <p:nvPr/>
        </p:nvSpPr>
        <p:spPr>
          <a:xfrm>
            <a:off x="4352544" y="2084832"/>
            <a:ext cx="905256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300" b="1">
                <a:solidFill>
                  <a:srgbClr val="165BAA"/>
                </a:solidFill>
                <a:latin typeface="Microsoft YaHei"/>
                <a:ea typeface="Microsoft YaHei"/>
              </a:rPr>
              <a:t>3200 / 800</a:t>
            </a:r>
          </a:p>
        </p:txBody>
      </p:sp>
      <p:sp>
        <p:nvSpPr>
          <p:cNvPr id="24" name="source card small 3"/>
          <p:cNvSpPr/>
          <p:nvPr/>
        </p:nvSpPr>
        <p:spPr>
          <a:xfrm>
            <a:off x="4334256" y="2487168"/>
            <a:ext cx="941832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5B6B7A"/>
                </a:solidFill>
                <a:latin typeface="Microsoft YaHei"/>
                <a:ea typeface="Microsoft YaHei"/>
              </a:rPr>
              <a:t>train / test</a:t>
            </a:r>
          </a:p>
        </p:txBody>
      </p:sp>
      <p:sp>
        <p:nvSpPr>
          <p:cNvPr id="25" name="right panel"/>
          <p:cNvSpPr/>
          <p:nvPr/>
        </p:nvSpPr>
        <p:spPr>
          <a:xfrm>
            <a:off x="5989320" y="1170432"/>
            <a:ext cx="58521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5BAA"/>
            </a:solidFill>
          </a:ln>
        </p:spPr>
      </p:sp>
      <p:sp>
        <p:nvSpPr>
          <p:cNvPr id="26" name="right panel title"/>
          <p:cNvSpPr/>
          <p:nvPr/>
        </p:nvSpPr>
        <p:spPr>
          <a:xfrm>
            <a:off x="6108192" y="1271016"/>
            <a:ext cx="5614416" cy="310896"/>
          </a:xfrm>
          <a:prstGeom prst="roundRect">
            <a:avLst/>
          </a:prstGeom>
          <a:solidFill>
            <a:srgbClr val="DCEBFA"/>
          </a:solidFill>
          <a:ln>
            <a:noFill/>
          </a:ln>
        </p:spPr>
        <p:txBody>
          <a:bodyPr lIns="65000" tIns="65000" rIns="65000" bIns="65000" anchor="mid"/>
          <a:lstStyle/>
          <a:p>
            <a:pPr algn="ctr"/>
            <a:r>
              <a:rPr lang="zh-CN" sz="1400" b="1">
                <a:solidFill>
                  <a:srgbClr val="111827"/>
                </a:solidFill>
                <a:latin typeface="Microsoft YaHei"/>
                <a:ea typeface="Microsoft YaHei"/>
              </a:rPr>
              <a:t>学习任务：8 个设计/材料参数 → 6 个刚度目标</a:t>
            </a:r>
          </a:p>
        </p:txBody>
      </p:sp>
      <p:sp>
        <p:nvSpPr>
          <p:cNvPr id="27" name="task card 0"/>
          <p:cNvSpPr/>
          <p:nvPr/>
        </p:nvSpPr>
        <p:spPr>
          <a:xfrm>
            <a:off x="6263640" y="1755648"/>
            <a:ext cx="1115568" cy="950976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28" name="task big 0"/>
          <p:cNvSpPr/>
          <p:nvPr/>
        </p:nvSpPr>
        <p:spPr>
          <a:xfrm>
            <a:off x="6309360" y="1865376"/>
            <a:ext cx="10241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1">
                <a:solidFill>
                  <a:srgbClr val="165BAA"/>
                </a:solidFill>
                <a:latin typeface="Microsoft YaHei"/>
                <a:ea typeface="Microsoft YaHei"/>
              </a:rPr>
              <a:t>pattern / m / n</a:t>
            </a:r>
          </a:p>
        </p:txBody>
      </p:sp>
      <p:sp>
        <p:nvSpPr>
          <p:cNvPr id="29" name="task small 0"/>
          <p:cNvSpPr/>
          <p:nvPr/>
        </p:nvSpPr>
        <p:spPr>
          <a:xfrm>
            <a:off x="6336792" y="2148840"/>
            <a:ext cx="969264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离散变量</a:t>
            </a:r>
          </a:p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embedding</a:t>
            </a:r>
          </a:p>
        </p:txBody>
      </p:sp>
      <p:sp>
        <p:nvSpPr>
          <p:cNvPr id="30" name="task card 1"/>
          <p:cNvSpPr/>
          <p:nvPr/>
        </p:nvSpPr>
        <p:spPr>
          <a:xfrm>
            <a:off x="7562088" y="1755648"/>
            <a:ext cx="1115568" cy="950976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31" name="task big 1"/>
          <p:cNvSpPr/>
          <p:nvPr/>
        </p:nvSpPr>
        <p:spPr>
          <a:xfrm>
            <a:off x="7607808" y="1865376"/>
            <a:ext cx="10241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1">
                <a:solidFill>
                  <a:srgbClr val="165BAA"/>
                </a:solidFill>
                <a:latin typeface="Microsoft YaHei"/>
                <a:ea typeface="Microsoft YaHei"/>
              </a:rPr>
              <a:t>tcrease / tpanel / W</a:t>
            </a:r>
          </a:p>
        </p:txBody>
      </p:sp>
      <p:sp>
        <p:nvSpPr>
          <p:cNvPr id="32" name="task small 1"/>
          <p:cNvSpPr/>
          <p:nvPr/>
        </p:nvSpPr>
        <p:spPr>
          <a:xfrm>
            <a:off x="7635240" y="2148840"/>
            <a:ext cx="969264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几何变量</a:t>
            </a:r>
          </a:p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log10 + 标准化</a:t>
            </a:r>
          </a:p>
        </p:txBody>
      </p:sp>
      <p:sp>
        <p:nvSpPr>
          <p:cNvPr id="33" name="task card 2"/>
          <p:cNvSpPr/>
          <p:nvPr/>
        </p:nvSpPr>
        <p:spPr>
          <a:xfrm>
            <a:off x="8860536" y="1755648"/>
            <a:ext cx="1115568" cy="950976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34" name="task big 2"/>
          <p:cNvSpPr/>
          <p:nvPr/>
        </p:nvSpPr>
        <p:spPr>
          <a:xfrm>
            <a:off x="8906256" y="1865376"/>
            <a:ext cx="10241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1">
                <a:solidFill>
                  <a:srgbClr val="165BAA"/>
                </a:solidFill>
                <a:latin typeface="Microsoft YaHei"/>
                <a:ea typeface="Microsoft YaHei"/>
              </a:rPr>
              <a:t>creaseE / panelE</a:t>
            </a:r>
          </a:p>
        </p:txBody>
      </p:sp>
      <p:sp>
        <p:nvSpPr>
          <p:cNvPr id="35" name="task small 2"/>
          <p:cNvSpPr/>
          <p:nvPr/>
        </p:nvSpPr>
        <p:spPr>
          <a:xfrm>
            <a:off x="8933688" y="2148840"/>
            <a:ext cx="969264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材料变量</a:t>
            </a:r>
          </a:p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log10 + 标准化</a:t>
            </a:r>
          </a:p>
        </p:txBody>
      </p:sp>
      <p:sp>
        <p:nvSpPr>
          <p:cNvPr id="36" name="task card 3"/>
          <p:cNvSpPr/>
          <p:nvPr/>
        </p:nvSpPr>
        <p:spPr>
          <a:xfrm>
            <a:off x="10158984" y="1755648"/>
            <a:ext cx="1115568" cy="950976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37" name="task big 3"/>
          <p:cNvSpPr/>
          <p:nvPr/>
        </p:nvSpPr>
        <p:spPr>
          <a:xfrm>
            <a:off x="10204704" y="1865376"/>
            <a:ext cx="10241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1">
                <a:solidFill>
                  <a:srgbClr val="165BAA"/>
                </a:solidFill>
                <a:latin typeface="Microsoft YaHei"/>
                <a:ea typeface="Microsoft YaHei"/>
              </a:rPr>
              <a:t>bend / axial × 3</a:t>
            </a:r>
          </a:p>
        </p:txBody>
      </p:sp>
      <p:sp>
        <p:nvSpPr>
          <p:cNvPr id="38" name="task small 3"/>
          <p:cNvSpPr/>
          <p:nvPr/>
        </p:nvSpPr>
        <p:spPr>
          <a:xfrm>
            <a:off x="10232136" y="2148840"/>
            <a:ext cx="969264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6 个刚度</a:t>
            </a:r>
          </a:p>
          <a:p>
            <a:pPr algn="ctr"/>
            <a:r>
              <a:rPr lang="zh-CN" sz="700" b="0">
                <a:solidFill>
                  <a:srgbClr val="111827"/>
                </a:solidFill>
                <a:latin typeface="Microsoft YaHei"/>
                <a:ea typeface="Microsoft YaHei"/>
              </a:rPr>
              <a:t>log10(stiffness)</a:t>
            </a:r>
          </a:p>
        </p:txBody>
      </p:sp>
      <p:sp>
        <p:nvSpPr>
          <p:cNvPr id="39" name="route panel"/>
          <p:cNvSpPr/>
          <p:nvPr/>
        </p:nvSpPr>
        <p:spPr>
          <a:xfrm>
            <a:off x="182880" y="3127248"/>
            <a:ext cx="118414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5BAA"/>
            </a:solidFill>
          </a:ln>
        </p:spPr>
      </p:sp>
      <p:sp>
        <p:nvSpPr>
          <p:cNvPr id="40" name="route title"/>
          <p:cNvSpPr/>
          <p:nvPr/>
        </p:nvSpPr>
        <p:spPr>
          <a:xfrm>
            <a:off x="320040" y="3227832"/>
            <a:ext cx="10241280" cy="310896"/>
          </a:xfrm>
          <a:prstGeom prst="rect">
            <a:avLst/>
          </a:prstGeom>
          <a:solidFill>
            <a:srgbClr val="DCEBFA"/>
          </a:solidFill>
          <a:ln>
            <a:noFill/>
          </a:ln>
        </p:spPr>
        <p:txBody>
          <a:bodyPr lIns="65000" tIns="65000" rIns="65000" bIns="65000" anchor="mid"/>
          <a:lstStyle/>
          <a:p>
            <a:pPr algn="ctr"/>
            <a:r>
              <a:rPr lang="zh-CN" sz="1500" b="1">
                <a:solidFill>
                  <a:srgbClr val="111827"/>
                </a:solidFill>
                <a:latin typeface="Microsoft YaHei"/>
                <a:ea typeface="Microsoft YaHei"/>
              </a:rPr>
              <a:t>技术路线：数据整理与模型训练链路</a:t>
            </a:r>
          </a:p>
        </p:txBody>
      </p:sp>
      <p:sp>
        <p:nvSpPr>
          <p:cNvPr id="41" name="step circle 0"/>
          <p:cNvSpPr/>
          <p:nvPr/>
        </p:nvSpPr>
        <p:spPr>
          <a:xfrm>
            <a:off x="886968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42" name="step label 0"/>
          <p:cNvSpPr/>
          <p:nvPr/>
        </p:nvSpPr>
        <p:spPr>
          <a:xfrm>
            <a:off x="502920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原始仿真</a:t>
            </a:r>
          </a:p>
        </p:txBody>
      </p:sp>
      <p:sp>
        <p:nvSpPr>
          <p:cNvPr id="43" name="step body 0"/>
          <p:cNvSpPr/>
          <p:nvPr/>
        </p:nvSpPr>
        <p:spPr>
          <a:xfrm>
            <a:off x="411480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MiuraSheetMat.txt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TMPSheetMat.txt</a:t>
            </a:r>
          </a:p>
        </p:txBody>
      </p:sp>
      <p:cxnSp>
        <p:nvCxnSpPr>
          <p:cNvPr id="44" name="arrow 44"/>
          <p:cNvCxnSpPr/>
          <p:nvPr/>
        </p:nvCxnSpPr>
        <p:spPr>
          <a:xfrm>
            <a:off x="1737360" y="4023360"/>
            <a:ext cx="393192" cy="9144"/>
          </a:xfrm>
          <a:prstGeom prst="straightConnector1">
            <a:avLst/>
          </a:prstGeom>
          <a:ln w="25400">
            <a:solidFill>
              <a:srgbClr val="165BAA"/>
            </a:solidFill>
            <a:tailEnd type="triangle"/>
          </a:ln>
        </p:spPr>
      </p:cxnSp>
      <p:sp>
        <p:nvSpPr>
          <p:cNvPr id="45" name="step circle 1"/>
          <p:cNvSpPr/>
          <p:nvPr/>
        </p:nvSpPr>
        <p:spPr>
          <a:xfrm>
            <a:off x="2642616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46" name="step label 1"/>
          <p:cNvSpPr/>
          <p:nvPr/>
        </p:nvSpPr>
        <p:spPr>
          <a:xfrm>
            <a:off x="2258568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数据清洗</a:t>
            </a:r>
          </a:p>
        </p:txBody>
      </p:sp>
      <p:sp>
        <p:nvSpPr>
          <p:cNvPr id="47" name="step body 1"/>
          <p:cNvSpPr/>
          <p:nvPr/>
        </p:nvSpPr>
        <p:spPr>
          <a:xfrm>
            <a:off x="2167128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合并 4000 条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固定随机切分</a:t>
            </a:r>
          </a:p>
        </p:txBody>
      </p:sp>
      <p:cxnSp>
        <p:nvCxnSpPr>
          <p:cNvPr id="48" name="arrow 48"/>
          <p:cNvCxnSpPr/>
          <p:nvPr/>
        </p:nvCxnSpPr>
        <p:spPr>
          <a:xfrm>
            <a:off x="3493008" y="4023360"/>
            <a:ext cx="393192" cy="9144"/>
          </a:xfrm>
          <a:prstGeom prst="straightConnector1">
            <a:avLst/>
          </a:prstGeom>
          <a:ln w="25400">
            <a:solidFill>
              <a:srgbClr val="165BAA"/>
            </a:solidFill>
            <a:tailEnd type="triangle"/>
          </a:ln>
        </p:spPr>
      </p:cxnSp>
      <p:sp>
        <p:nvSpPr>
          <p:cNvPr id="49" name="step circle 2"/>
          <p:cNvSpPr/>
          <p:nvPr/>
        </p:nvSpPr>
        <p:spPr>
          <a:xfrm>
            <a:off x="4398264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50" name="step label 2"/>
          <p:cNvSpPr/>
          <p:nvPr/>
        </p:nvSpPr>
        <p:spPr>
          <a:xfrm>
            <a:off x="4014216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特征编码</a:t>
            </a:r>
          </a:p>
        </p:txBody>
      </p:sp>
      <p:sp>
        <p:nvSpPr>
          <p:cNvPr id="51" name="step body 2"/>
          <p:cNvSpPr/>
          <p:nvPr/>
        </p:nvSpPr>
        <p:spPr>
          <a:xfrm>
            <a:off x="3922776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离散 id + embedding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连续量 log 标准化</a:t>
            </a:r>
          </a:p>
        </p:txBody>
      </p:sp>
      <p:cxnSp>
        <p:nvCxnSpPr>
          <p:cNvPr id="52" name="arrow 52"/>
          <p:cNvCxnSpPr/>
          <p:nvPr/>
        </p:nvCxnSpPr>
        <p:spPr>
          <a:xfrm>
            <a:off x="5248656" y="4023360"/>
            <a:ext cx="393192" cy="9144"/>
          </a:xfrm>
          <a:prstGeom prst="straightConnector1">
            <a:avLst/>
          </a:prstGeom>
          <a:ln w="25400">
            <a:solidFill>
              <a:srgbClr val="165BAA"/>
            </a:solidFill>
            <a:tailEnd type="triangle"/>
          </a:ln>
        </p:spPr>
      </p:cxnSp>
      <p:sp>
        <p:nvSpPr>
          <p:cNvPr id="53" name="step circle 3"/>
          <p:cNvSpPr/>
          <p:nvPr/>
        </p:nvSpPr>
        <p:spPr>
          <a:xfrm>
            <a:off x="6153912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54" name="step label 3"/>
          <p:cNvSpPr/>
          <p:nvPr/>
        </p:nvSpPr>
        <p:spPr>
          <a:xfrm>
            <a:off x="5769864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正向训练</a:t>
            </a:r>
          </a:p>
        </p:txBody>
      </p:sp>
      <p:sp>
        <p:nvSpPr>
          <p:cNvPr id="55" name="step body 3"/>
          <p:cNvSpPr/>
          <p:nvPr/>
        </p:nvSpPr>
        <p:spPr>
          <a:xfrm>
            <a:off x="5678424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8 参数 → 6 刚度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ResMLP/GAT/Transformer</a:t>
            </a:r>
          </a:p>
        </p:txBody>
      </p:sp>
      <p:cxnSp>
        <p:nvCxnSpPr>
          <p:cNvPr id="56" name="arrow 56"/>
          <p:cNvCxnSpPr/>
          <p:nvPr/>
        </p:nvCxnSpPr>
        <p:spPr>
          <a:xfrm>
            <a:off x="7004304" y="4023360"/>
            <a:ext cx="393192" cy="9144"/>
          </a:xfrm>
          <a:prstGeom prst="straightConnector1">
            <a:avLst/>
          </a:prstGeom>
          <a:ln w="25400">
            <a:solidFill>
              <a:srgbClr val="165BAA"/>
            </a:solidFill>
            <a:tailEnd type="triangle"/>
          </a:ln>
        </p:spPr>
      </p:cxnSp>
      <p:sp>
        <p:nvSpPr>
          <p:cNvPr id="57" name="step circle 4"/>
          <p:cNvSpPr/>
          <p:nvPr/>
        </p:nvSpPr>
        <p:spPr>
          <a:xfrm>
            <a:off x="7909560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58" name="step label 4"/>
          <p:cNvSpPr/>
          <p:nvPr/>
        </p:nvSpPr>
        <p:spPr>
          <a:xfrm>
            <a:off x="7525512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逆向训练</a:t>
            </a:r>
          </a:p>
        </p:txBody>
      </p:sp>
      <p:sp>
        <p:nvSpPr>
          <p:cNvPr id="59" name="step body 4"/>
          <p:cNvSpPr/>
          <p:nvPr/>
        </p:nvSpPr>
        <p:spPr>
          <a:xfrm>
            <a:off x="7434072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6 刚度 → 8 参数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ResMLP/CVAE/Diffusion</a:t>
            </a:r>
          </a:p>
        </p:txBody>
      </p:sp>
      <p:cxnSp>
        <p:nvCxnSpPr>
          <p:cNvPr id="60" name="arrow 60"/>
          <p:cNvCxnSpPr/>
          <p:nvPr/>
        </p:nvCxnSpPr>
        <p:spPr>
          <a:xfrm>
            <a:off x="8759952" y="4023360"/>
            <a:ext cx="393192" cy="9144"/>
          </a:xfrm>
          <a:prstGeom prst="straightConnector1">
            <a:avLst/>
          </a:prstGeom>
          <a:ln w="25400">
            <a:solidFill>
              <a:srgbClr val="165BAA"/>
            </a:solidFill>
            <a:tailEnd type="triangle"/>
          </a:ln>
        </p:spPr>
      </p:cxnSp>
      <p:sp>
        <p:nvSpPr>
          <p:cNvPr id="61" name="step circle 5"/>
          <p:cNvSpPr/>
          <p:nvPr/>
        </p:nvSpPr>
        <p:spPr>
          <a:xfrm>
            <a:off x="9665208" y="3749040"/>
            <a:ext cx="530352" cy="530352"/>
          </a:xfrm>
          <a:prstGeom prst="roundRect">
            <a:avLst/>
          </a:prstGeom>
          <a:solidFill>
            <a:srgbClr val="DCEBFA"/>
          </a:solidFill>
          <a:ln w="19050">
            <a:solidFill>
              <a:srgbClr val="165BAA"/>
            </a:solidFill>
          </a:ln>
        </p:spPr>
        <p:txBody>
          <a:bodyPr lIns="65000" tIns="65000" rIns="65000" bIns="65000" anchor="mid"/>
          <a:lstStyle/>
          <a:p>
            <a:pPr algn="ctr"/>
            <a:r>
              <a:rPr lang="zh-CN" sz="1700" b="1">
                <a:solidFill>
                  <a:srgbClr val="165BAA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62" name="step label 5"/>
          <p:cNvSpPr/>
          <p:nvPr/>
        </p:nvSpPr>
        <p:spPr>
          <a:xfrm>
            <a:off x="9281160" y="4361688"/>
            <a:ext cx="129844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测试评估</a:t>
            </a:r>
          </a:p>
        </p:txBody>
      </p:sp>
      <p:sp>
        <p:nvSpPr>
          <p:cNvPr id="63" name="step body 5"/>
          <p:cNvSpPr/>
          <p:nvPr/>
        </p:nvSpPr>
        <p:spPr>
          <a:xfrm>
            <a:off x="9189720" y="4645152"/>
            <a:ext cx="1481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held-out test</a:t>
            </a:r>
          </a:p>
          <a:p>
            <a:pPr algn="ctr"/>
            <a:r>
              <a:rPr lang="zh-CN" sz="800" b="0">
                <a:solidFill>
                  <a:srgbClr val="5B6B7A"/>
                </a:solidFill>
                <a:latin typeface="Microsoft YaHei"/>
                <a:ea typeface="Microsoft YaHei"/>
              </a:rPr>
              <a:t>R² / MAE / NRMSE</a:t>
            </a:r>
          </a:p>
        </p:txBody>
      </p:sp>
      <p:sp>
        <p:nvSpPr>
          <p:cNvPr id="64" name="right app rail"/>
          <p:cNvSpPr/>
          <p:nvPr/>
        </p:nvSpPr>
        <p:spPr>
          <a:xfrm>
            <a:off x="10698480" y="3547872"/>
            <a:ext cx="1097280" cy="1691640"/>
          </a:xfrm>
          <a:prstGeom prst="roundRect">
            <a:avLst/>
          </a:prstGeom>
          <a:solidFill>
            <a:srgbClr val="F2F5F9"/>
          </a:solidFill>
          <a:ln w="19050">
            <a:solidFill>
              <a:srgbClr val="7EAFDF"/>
            </a:solidFill>
          </a:ln>
        </p:spPr>
      </p:sp>
      <p:sp>
        <p:nvSpPr>
          <p:cNvPr id="65" name="right app vertical"/>
          <p:cNvSpPr/>
          <p:nvPr/>
        </p:nvSpPr>
        <p:spPr>
          <a:xfrm>
            <a:off x="10844784" y="3694176"/>
            <a:ext cx="25603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600" b="1">
                <a:solidFill>
                  <a:srgbClr val="165BAA"/>
                </a:solidFill>
                <a:latin typeface="Microsoft YaHei"/>
                <a:ea typeface="Microsoft YaHei"/>
              </a:rPr>
              <a:t>预</a:t>
            </a:r>
          </a:p>
          <a:p>
            <a:pPr algn="ctr"/>
            <a:r>
              <a:rPr lang="zh-CN" sz="1600" b="1">
                <a:solidFill>
                  <a:srgbClr val="165BAA"/>
                </a:solidFill>
                <a:latin typeface="Microsoft YaHei"/>
                <a:ea typeface="Microsoft YaHei"/>
              </a:rPr>
              <a:t>期</a:t>
            </a:r>
          </a:p>
          <a:p>
            <a:pPr algn="ctr"/>
            <a:r>
              <a:rPr lang="zh-CN" sz="1600" b="1">
                <a:solidFill>
                  <a:srgbClr val="165BAA"/>
                </a:solidFill>
                <a:latin typeface="Microsoft YaHei"/>
                <a:ea typeface="Microsoft YaHei"/>
              </a:rPr>
              <a:t>应</a:t>
            </a:r>
          </a:p>
          <a:p>
            <a:pPr algn="ctr"/>
            <a:r>
              <a:rPr lang="zh-CN" sz="1600" b="1">
                <a:solidFill>
                  <a:srgbClr val="165BAA"/>
                </a:solidFill>
                <a:latin typeface="Microsoft YaHei"/>
                <a:ea typeface="Microsoft YaHei"/>
              </a:rPr>
              <a:t>用</a:t>
            </a:r>
          </a:p>
        </p:txBody>
      </p:sp>
      <p:sp>
        <p:nvSpPr>
          <p:cNvPr id="66" name="right app text"/>
          <p:cNvSpPr/>
          <p:nvPr/>
        </p:nvSpPr>
        <p:spPr>
          <a:xfrm>
            <a:off x="11109960" y="3730752"/>
            <a:ext cx="5029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700" b="1">
                <a:solidFill>
                  <a:srgbClr val="111827"/>
                </a:solidFill>
                <a:latin typeface="Microsoft YaHei"/>
                <a:ea typeface="Microsoft YaHei"/>
              </a:rPr>
              <a:t>折纸刚度</a:t>
            </a:r>
          </a:p>
          <a:p>
            <a:pPr algn="ctr"/>
            <a:r>
              <a:rPr lang="zh-CN" sz="700" b="1">
                <a:solidFill>
                  <a:srgbClr val="111827"/>
                </a:solidFill>
                <a:latin typeface="Microsoft YaHei"/>
                <a:ea typeface="Microsoft YaHei"/>
              </a:rPr>
              <a:t>快速预测</a:t>
            </a:r>
          </a:p>
          <a:p>
            <a:pPr algn="ctr"/>
            <a:r>
              <a:rPr lang="zh-CN" sz="700" b="1">
                <a:solidFill>
                  <a:srgbClr val="111827"/>
                </a:solidFill>
                <a:latin typeface="Microsoft YaHei"/>
                <a:ea typeface="Microsoft YaHei"/>
              </a:rPr>
              <a:t>与逆向设计</a:t>
            </a:r>
          </a:p>
        </p:txBody>
      </p:sp>
      <p:sp>
        <p:nvSpPr>
          <p:cNvPr id="67" name="bottom item 0"/>
          <p:cNvSpPr/>
          <p:nvPr/>
        </p:nvSpPr>
        <p:spPr>
          <a:xfrm>
            <a:off x="502920" y="5650992"/>
            <a:ext cx="3246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AFDF"/>
            </a:solidFill>
          </a:ln>
        </p:spPr>
      </p:sp>
      <p:sp>
        <p:nvSpPr>
          <p:cNvPr id="68" name="bottom head 0"/>
          <p:cNvSpPr/>
          <p:nvPr/>
        </p:nvSpPr>
        <p:spPr>
          <a:xfrm>
            <a:off x="667512" y="5760720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1100" b="1">
                <a:solidFill>
                  <a:srgbClr val="165BAA"/>
                </a:solidFill>
                <a:latin typeface="Microsoft YaHei"/>
                <a:ea typeface="Microsoft YaHei"/>
              </a:rPr>
              <a:t>数据规模</a:t>
            </a:r>
          </a:p>
        </p:txBody>
      </p:sp>
      <p:sp>
        <p:nvSpPr>
          <p:cNvPr id="69" name="bottom body 0"/>
          <p:cNvSpPr/>
          <p:nvPr/>
        </p:nvSpPr>
        <p:spPr>
          <a:xfrm>
            <a:off x="1417320" y="5742432"/>
            <a:ext cx="21488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</a:rPr>
              <a:t>4000 = Miura 2000 + TMP 2000</a:t>
            </a:r>
          </a:p>
        </p:txBody>
      </p:sp>
      <p:sp>
        <p:nvSpPr>
          <p:cNvPr id="70" name="bottom item 1"/>
          <p:cNvSpPr/>
          <p:nvPr/>
        </p:nvSpPr>
        <p:spPr>
          <a:xfrm>
            <a:off x="4206240" y="5650992"/>
            <a:ext cx="3246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AFDF"/>
            </a:solidFill>
          </a:ln>
        </p:spPr>
      </p:sp>
      <p:sp>
        <p:nvSpPr>
          <p:cNvPr id="71" name="bottom head 1"/>
          <p:cNvSpPr/>
          <p:nvPr/>
        </p:nvSpPr>
        <p:spPr>
          <a:xfrm>
            <a:off x="4370832" y="5760720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1100" b="1">
                <a:solidFill>
                  <a:srgbClr val="165BAA"/>
                </a:solidFill>
                <a:latin typeface="Microsoft YaHei"/>
                <a:ea typeface="Microsoft YaHei"/>
              </a:rPr>
              <a:t>任务目标</a:t>
            </a:r>
          </a:p>
        </p:txBody>
      </p:sp>
      <p:sp>
        <p:nvSpPr>
          <p:cNvPr id="72" name="bottom body 1"/>
          <p:cNvSpPr/>
          <p:nvPr/>
        </p:nvSpPr>
        <p:spPr>
          <a:xfrm>
            <a:off x="5120640" y="5742432"/>
            <a:ext cx="21488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</a:rPr>
              <a:t>正向预测刚度；逆向生成设计参数</a:t>
            </a:r>
          </a:p>
        </p:txBody>
      </p:sp>
      <p:sp>
        <p:nvSpPr>
          <p:cNvPr id="73" name="bottom item 2"/>
          <p:cNvSpPr/>
          <p:nvPr/>
        </p:nvSpPr>
        <p:spPr>
          <a:xfrm>
            <a:off x="7909560" y="5650992"/>
            <a:ext cx="324612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EAFDF"/>
            </a:solidFill>
          </a:ln>
        </p:spPr>
      </p:sp>
      <p:sp>
        <p:nvSpPr>
          <p:cNvPr id="74" name="bottom head 2"/>
          <p:cNvSpPr/>
          <p:nvPr/>
        </p:nvSpPr>
        <p:spPr>
          <a:xfrm>
            <a:off x="8074152" y="5760720"/>
            <a:ext cx="73152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1100" b="1">
                <a:solidFill>
                  <a:srgbClr val="165BAA"/>
                </a:solidFill>
                <a:latin typeface="Microsoft YaHei"/>
                <a:ea typeface="Microsoft YaHei"/>
              </a:rPr>
              <a:t>关键澄清</a:t>
            </a:r>
          </a:p>
        </p:txBody>
      </p:sp>
      <p:sp>
        <p:nvSpPr>
          <p:cNvPr id="75" name="bottom body 2"/>
          <p:cNvSpPr/>
          <p:nvPr/>
        </p:nvSpPr>
        <p:spPr>
          <a:xfrm>
            <a:off x="8823960" y="5742432"/>
            <a:ext cx="21488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l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</a:rPr>
              <a:t>本页数据不是 Bump/TPMS Excel 数据集</a:t>
            </a:r>
          </a:p>
        </p:txBody>
      </p:sp>
      <p:sp>
        <p:nvSpPr>
          <p:cNvPr id="76" name="footer"/>
          <p:cNvSpPr/>
          <p:nvPr/>
        </p:nvSpPr>
        <p:spPr>
          <a:xfrm>
            <a:off x="685800" y="6419088"/>
            <a:ext cx="109728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0" tIns="0" rIns="0" bIns="0" anchor="mid"/>
          <a:lstStyle/>
          <a:p>
            <a:pPr algn="ctr"/>
            <a:r>
              <a:rPr lang="zh-CN" sz="1500" b="1">
                <a:solidFill>
                  <a:srgbClr val="D71920"/>
                </a:solidFill>
                <a:latin typeface="Microsoft YaHei"/>
                <a:ea typeface="Microsoft YaHei"/>
              </a:rPr>
              <a:t>用于 ResMLP / GAT / Transformer / CVAE / Diffusion 的重训、调参与最终测试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ami Datase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65BAA"/>
      </a:accent1>
      <a:accent2>
        <a:srgbClr val="D71920"/>
      </a:accent2>
      <a:accent3>
        <a:srgbClr val="248A5B"/>
      </a:accent3>
      <a:accent4>
        <a:srgbClr val="E68A00"/>
      </a:accent4>
      <a:accent5>
        <a:srgbClr val="7EAFDF"/>
      </a:accent5>
      <a:accent6>
        <a:srgbClr val="5B6B7A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Origami Dataset Introduction</dc:title>
  <dc:creator>Codex</dc:creator>
</cp:coreProperties>
</file>